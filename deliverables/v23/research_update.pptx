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动态灾害下的连续决策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康定案例背景 · 预测、事件理解与异构资源调度</a:t>
            </a:r>
          </a:p>
          <a:p>
            <a:pPr>
              <a:defRPr sz="2600"/>
            </a:pPr>
            <a:r>
              <a:t>一个真实案例，多阶段模拟事件链</a:t>
            </a:r>
          </a:p>
          <a:p>
            <a:pPr>
              <a:defRPr sz="2600"/>
            </a:pPr>
            <a:r>
              <a:t>本机研究原型；不还原实际指挥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问题与研究边界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动态信息会新增、延迟和修正，资源也会失效。</a:t>
            </a:r>
          </a:p>
          <a:p>
            <a:pPr>
              <a:defRPr sz="2600"/>
            </a:pPr>
            <a:r>
              <a:t>目标：在约束内连续形成可核验方案。</a:t>
            </a:r>
          </a:p>
          <a:p>
            <a:pPr>
              <a:defRPr sz="2600"/>
            </a:pPr>
            <a:r>
              <a:t>真实最终环境产品用于事后回放；任务与路况事件为模拟。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数据到执行的计算链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Bronze / Silver / Gold → 联合预测 → 区域排序</a:t>
            </a:r>
          </a:p>
          <a:p>
            <a:pPr>
              <a:defRPr sz="2600"/>
            </a:pPr>
            <a:r>
              <a:t>报告 → DeepSeek / 规则 → schema与证据校验 → 人工确认</a:t>
            </a:r>
          </a:p>
          <a:p>
            <a:pPr>
              <a:defRPr sz="2600"/>
            </a:pPr>
            <a:r>
              <a:t>CP-SAT + 路网 → 执行状态 → 事件重规划 → 决策追踪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真实历史环境与联合预测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GPM Final + ERA5-Land：三点、两变量、小时联合输入</a:t>
            </a:r>
          </a:p>
          <a:p>
            <a:pPr>
              <a:defRPr sz="2600"/>
            </a:pPr>
            <a:r>
              <a:t>3,672条原生记录，2,442条小时记录；不补造水位和位移</a:t>
            </a:r>
          </a:p>
          <a:p>
            <a:pPr>
              <a:defRPr sz="2600"/>
            </a:pPr>
            <a:r>
              <a:t>Persistence / Ridge / GB；固定训练、递归多时距验证</a:t>
            </a:r>
          </a:p>
          <a:p>
            <a:pPr>
              <a:defRPr sz="2600"/>
            </a:pPr>
            <a:r>
              <a:t>复杂模型未全面优于Persistence。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一个案例：九阶段事件链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强降雨风险 → 首次灾情 → 新增失联 → 封路与延迟</a:t>
            </a:r>
          </a:p>
          <a:p>
            <a:pPr>
              <a:defRPr sz="2600"/>
            </a:pPr>
            <a:r>
              <a:t>执行资源故障 → 增援 → 邻区次生风险</a:t>
            </a:r>
          </a:p>
          <a:p>
            <a:pPr>
              <a:defRPr sz="2600"/>
            </a:pPr>
            <a:r>
              <a:t>信息修正与二次封路 → 趋稳恢复</a:t>
            </a:r>
          </a:p>
          <a:p>
            <a:pPr>
              <a:defRPr sz="2600"/>
            </a:pPr>
            <a:r>
              <a:t>所有阶段均为实验构造，逐次人工确认。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DeepSeek：真实调用与证据限制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50条模拟文本；deepseek-v4-flash</a:t>
            </a:r>
          </a:p>
          <a:p>
            <a:pPr>
              <a:defRPr sz="2600"/>
            </a:pPr>
            <a:r>
              <a:t>事件类型准确率 74%；伤亡与道路F1均为1.00</a:t>
            </a:r>
          </a:p>
          <a:p>
            <a:pPr>
              <a:defRPr sz="2600"/>
            </a:pPr>
            <a:r>
              <a:t>推测地点被拒绝，回退不计作模型成功。</a:t>
            </a:r>
          </a:p>
          <a:p>
            <a:pPr>
              <a:defRPr sz="2600"/>
            </a:pPr>
            <a:r>
              <a:t>规则与标签模板相关，不能据此宣称真实场景泛化。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调度目标与词典序基线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加权：U + βR + 10L + T + λC</a:t>
            </a:r>
          </a:p>
          <a:p>
            <a:pPr>
              <a:defRPr sz="2600"/>
            </a:pPr>
            <a:r>
              <a:t>词典序：P1缺口 → P1响应 → 其他缺口 → 行程与扰动</a:t>
            </a:r>
          </a:p>
          <a:p>
            <a:pPr>
              <a:defRPr sz="2600"/>
            </a:pPr>
            <a:r>
              <a:t>仅固定已经证明最优的层级；超时停止并保留可行解</a:t>
            </a:r>
          </a:p>
          <a:p>
            <a:pPr>
              <a:defRPr sz="2600"/>
            </a:pPr>
            <a:r>
              <a:t>共用复合资源同步、执行锁定与道路可达约束。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配对分析：不只报告均值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旧960组分格配对；20种子/格，10,000次bootstrap</a:t>
            </a:r>
          </a:p>
          <a:p>
            <a:pPr>
              <a:defRPr sz="2000"/>
            </a:pPr>
            <a:r>
              <a:t>平均差、中位差、95%点区间、胜率、平局</a:t>
            </a:r>
          </a:p>
          <a:p>
            <a:pPr>
              <a:defRPr sz="2000"/>
            </a:pPr>
            <a:r>
              <a:t>探索性分析，不做全面优势或多重检验结论。</a:t>
            </a:r>
          </a:p>
        </p:txBody>
      </p:sp>
      <p:pic>
        <p:nvPicPr>
          <p:cNvPr id="4" name="Picture 3" descr="paired_win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476" y="2743200"/>
            <a:ext cx="6858000" cy="37407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β不是随意挑一个最优值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0 / 1 / 2 / 5 / 10 / 20 / 50；相同20种子</a:t>
            </a:r>
          </a:p>
          <a:p>
            <a:pPr>
              <a:defRPr sz="2000"/>
            </a:pPr>
            <a:r>
              <a:t>查看P1完成、条件响应与缺口的折中</a:t>
            </a:r>
          </a:p>
          <a:p>
            <a:pPr>
              <a:defRPr sz="2000"/>
            </a:pPr>
            <a:r>
              <a:t>保留β=10作为兼容操作点，未声称独立验证选优。</a:t>
            </a:r>
          </a:p>
        </p:txBody>
      </p:sp>
      <p:pic>
        <p:nvPicPr>
          <p:cNvPr id="4" name="Picture 3" descr="beta_tradeo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2743200"/>
            <a:ext cx="9144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压力测试与可解释执行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6类情景 × 30次；报告P50 / P95 / P99</a:t>
            </a:r>
          </a:p>
          <a:p>
            <a:pPr>
              <a:defRPr sz="2600"/>
            </a:pPr>
            <a:r>
              <a:t>300组调度 + 140组β + 180组压力：0约束违规</a:t>
            </a:r>
          </a:p>
          <a:p>
            <a:pPr>
              <a:defRPr sz="2600"/>
            </a:pPr>
            <a:r>
              <a:t>内存事件处理延迟不包含HTTP、数据库或模型网络时间。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演示：为什么方案变化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展示模型原文与候选 → 人工确认多事件</a:t>
            </a:r>
          </a:p>
          <a:p>
            <a:pPr>
              <a:defRPr sz="2600"/>
            </a:pPr>
            <a:r>
              <a:t>地图/Gantt → 改派与撤回 → ETA前后变化</a:t>
            </a:r>
          </a:p>
          <a:p>
            <a:pPr>
              <a:defRPr sz="2600"/>
            </a:pPr>
            <a:r>
              <a:t>查看8→13→15人的报告版本链，核对无重复累计</a:t>
            </a:r>
          </a:p>
          <a:p>
            <a:pPr>
              <a:defRPr sz="2600"/>
            </a:pPr>
            <a:r>
              <a:t>再切换词典序，查看每层证明状态。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研究结论与下一步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没有证明复杂模型一定胜过规则或贪心。</a:t>
            </a:r>
          </a:p>
          <a:p>
            <a:pPr>
              <a:defRPr sz="2600"/>
            </a:pPr>
            <a:r>
              <a:t>价值是可复现地说明：在哪些条件、哪些指标上出现折中。</a:t>
            </a:r>
          </a:p>
          <a:p>
            <a:pPr>
              <a:defRPr sz="2600"/>
            </a:pPr>
            <a:r>
              <a:t>后续：静态易发性层、资源保留与容量补救模型。</a:t>
            </a:r>
          </a:p>
          <a:p>
            <a:pPr>
              <a:defRPr sz="2600"/>
            </a:pPr>
            <a:r>
              <a:t>现阶段保留单案例和清晰的模拟边界。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