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V2.3 最终研究原型</a:t>
            </a:r>
          </a:p>
          <a:p>
            <a:r>
              <a:t>多源环境观测 · 联合预测 · 事件理解 · 资源调度</a:t>
            </a:r>
          </a:p>
          <a:p>
            <a:r>
              <a:t>本地单机运行，全部模拟边界可追溯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九阶段：风险上升 → 首报 → 新增需求 → 封路与延迟</a:t>
            </a:r>
          </a:p>
          <a:p>
            <a:r>
              <a:t>执行资源故障 → 增援 → 次生风险 → 信息修正 → 恢复</a:t>
            </a:r>
          </a:p>
          <a:p>
            <a:r>
              <a:t>阶段时刻、人数、任务与资源为实验构造，不是真实指挥记录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历史 / 模拟数据 → 联合预测 → 区域风险排序</a:t>
            </a:r>
          </a:p>
          <a:p>
            <a:r>
              <a:t>报告文本 → 模型候选 → 证据校验 → 人工批准</a:t>
            </a:r>
          </a:p>
          <a:p>
            <a:r>
              <a:t>CP-SAT + 路网 → 执行推进 → 事件重规划 → 决策追踪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默认本地矢量底图，图层可切换，断网可交互</a:t>
            </a:r>
          </a:p>
          <a:p>
            <a:r>
              <a:t>OSM背景为2026快照；任务与风险为模拟图层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模型提出候选；人工核对原文、字段与条款</a:t>
            </a:r>
          </a:p>
          <a:p>
            <a:r>
              <a:t>同一批次统一重规划；报告版本为8 → 13 → 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120条 / 12类；规则、原始DeepSeek、DeepSeek + grounding</a:t>
            </a:r>
          </a:p>
          <a:p>
            <a:r>
              <a:t>三方法共享输入，两模型方法共享一次响应</a:t>
            </a:r>
          </a:p>
          <a:p>
            <a:r>
              <a:t>开发辅助标注，尚无第三方独立复核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原始模型数值F1高于规则，实体F1较低，事件F1接近</a:t>
            </a:r>
          </a:p>
          <a:p>
            <a:r>
              <a:t>严格校验同时减少错误候选和部分正确覆盖</a:t>
            </a:r>
          </a:p>
          <a:p>
            <a:r>
              <a:t>证据子串不等于完整语义验证；否定、指代仍需人工审查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能力匹配、道路可达、协同开始、占用与已执行动作锁定</a:t>
            </a:r>
          </a:p>
          <a:p>
            <a:r>
              <a:t>加权目标与词典序共用执行器；超时明确显示可行或降级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异构事件：300组；β敏感性：140组；重复压力：180组</a:t>
            </a:r>
          </a:p>
          <a:p>
            <a:r>
              <a:t>词典序P1完成略高，但响应、缺口和撤回存在代价</a:t>
            </a:r>
          </a:p>
          <a:p>
            <a:r>
              <a:t>旧960组按种子配对bootstrap，不用单一均值宣称全面优势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服务启动先训练；请求期不重新拟合</a:t>
            </a:r>
          </a:p>
          <a:p>
            <a:r>
              <a:t>模拟预热事件P95 849.1 ms；历史 212.2 ms</a:t>
            </a:r>
          </a:p>
          <a:p>
            <a:r>
              <a:t>各30次，含SQLite与状态返回，排除HTTP / LLM</a:t>
            </a:r>
          </a:p>
          <a:p>
            <a:r>
              <a:t>与旧内存压力实验计时边界不同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沿用原生JS、Leaflet、ECharts；没有新增前端运行依赖</a:t>
            </a:r>
          </a:p>
          <a:p>
            <a:r>
              <a:t>SVG图标、59KB本地道路、地图/图表切页释放</a:t>
            </a:r>
          </a:p>
          <a:p>
            <a:r>
              <a:t>六页 × 三宽度、九阶段、真实提取、词典序与重复切页</a:t>
            </a:r>
          </a:p>
          <a:p>
            <a:r>
              <a:t>完整73项测试，保留约束一致性与失败回退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可复现地解释动态信息如何改变资源约束与调度方案</a:t>
            </a:r>
          </a:p>
          <a:p>
            <a:r>
              <a:t>没有证明LLM全面优于规则，或证明真实救援效果</a:t>
            </a:r>
          </a:p>
          <a:p>
            <a:r>
              <a:t>后续：第三方独立标注、地形易发性、未来需求资源保留</a:t>
            </a:r>
          </a:p>
          <a:p>
            <a:r>
              <a:t>当前冻结功能，统一README、PPT与五分钟演示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4786BE"/>
                </a:solidFill>
                <a:latin typeface="Microsoft YaHei"/>
              </a:defRPr>
            </a:pPr>
            <a:r>
              <a:t>KANGDING / DYNAMIC EMERGENCY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193B5C"/>
                </a:solidFill>
                <a:latin typeface="Microsoft YaHei"/>
              </a:defRPr>
            </a:pPr>
            <a:r>
              <a:t>康定案例 · 动态应急决策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193B5C"/>
                </a:solidFill>
                <a:latin typeface="Microsoft YaHei"/>
              </a:defRPr>
            </a:pPr>
            <a:r>
              <a:t>V2.3 最终研究原型</a:t>
            </a:r>
          </a:p>
          <a:p>
            <a:pPr>
              <a:spcAft>
                <a:spcPts val="1200"/>
              </a:spcAft>
              <a:defRPr sz="2400">
                <a:solidFill>
                  <a:srgbClr val="193B5C"/>
                </a:solidFill>
                <a:latin typeface="Microsoft YaHei"/>
              </a:defRPr>
            </a:pPr>
            <a:r>
              <a:t>多源环境观测 · 联合预测 · 事件理解 · 资源调度</a:t>
            </a:r>
          </a:p>
          <a:p>
            <a:pPr>
              <a:spcAft>
                <a:spcPts val="1200"/>
              </a:spcAft>
              <a:defRPr sz="2400">
                <a:solidFill>
                  <a:srgbClr val="193B5C"/>
                </a:solidFill>
                <a:latin typeface="Microsoft YaHei"/>
              </a:defRPr>
            </a:pPr>
            <a:r>
              <a:t>本地单机运行，全部模拟边界可追溯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>
                <a:solidFill>
                  <a:srgbClr val="7890A7"/>
                </a:solidFill>
                <a:latin typeface="Microsoft YaHei"/>
              </a:defRPr>
            </a:pPr>
            <a:r>
              <a:t>V2.3 · 康定案例背景 / 模拟决策研究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4786BE"/>
                </a:solidFill>
                <a:latin typeface="Microsoft YaHe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4786BE"/>
                </a:solidFill>
                <a:latin typeface="Microsoft YaHei"/>
              </a:defRPr>
            </a:pPr>
            <a:r>
              <a:t>KANGDING / DYNAMIC EMERGENCY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193B5C"/>
                </a:solidFill>
                <a:latin typeface="Microsoft YaHei"/>
              </a:defRPr>
            </a:pPr>
            <a:r>
              <a:t>一个案例，多次状态变化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193B5C"/>
                </a:solidFill>
                <a:latin typeface="Microsoft YaHei"/>
              </a:defRPr>
            </a:pPr>
            <a:r>
              <a:t>九阶段：风险上升 → 首报 → 新增需求 → 封路与延迟</a:t>
            </a:r>
          </a:p>
          <a:p>
            <a:pPr>
              <a:spcAft>
                <a:spcPts val="1200"/>
              </a:spcAft>
              <a:defRPr sz="2400">
                <a:solidFill>
                  <a:srgbClr val="193B5C"/>
                </a:solidFill>
                <a:latin typeface="Microsoft YaHei"/>
              </a:defRPr>
            </a:pPr>
            <a:r>
              <a:t>执行资源故障 → 增援 → 次生风险 → 信息修正 → 恢复</a:t>
            </a:r>
          </a:p>
          <a:p>
            <a:pPr>
              <a:spcAft>
                <a:spcPts val="1200"/>
              </a:spcAft>
              <a:defRPr sz="2400">
                <a:solidFill>
                  <a:srgbClr val="193B5C"/>
                </a:solidFill>
                <a:latin typeface="Microsoft YaHei"/>
              </a:defRPr>
            </a:pPr>
            <a:r>
              <a:t>阶段时刻、人数、任务与资源为实验构造，不是真实指挥记录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>
                <a:solidFill>
                  <a:srgbClr val="7890A7"/>
                </a:solidFill>
                <a:latin typeface="Microsoft YaHei"/>
              </a:defRPr>
            </a:pPr>
            <a:r>
              <a:t>V2.3 · 康定案例背景 / 模拟决策研究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4786BE"/>
                </a:solidFill>
                <a:latin typeface="Microsoft Ya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4786BE"/>
                </a:solidFill>
                <a:latin typeface="Microsoft YaHei"/>
              </a:defRPr>
            </a:pPr>
            <a:r>
              <a:t>KANGDING / DYNAMIC EMERGENCY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193B5C"/>
                </a:solidFill>
                <a:latin typeface="Microsoft YaHei"/>
              </a:defRPr>
            </a:pPr>
            <a:r>
              <a:t>从数据到执行的系统链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193B5C"/>
                </a:solidFill>
                <a:latin typeface="Microsoft YaHei"/>
              </a:defRPr>
            </a:pPr>
            <a:r>
              <a:t>历史 / 模拟数据 → 联合预测 → 区域风险排序</a:t>
            </a:r>
          </a:p>
          <a:p>
            <a:pPr>
              <a:spcAft>
                <a:spcPts val="1200"/>
              </a:spcAft>
              <a:defRPr sz="2400">
                <a:solidFill>
                  <a:srgbClr val="193B5C"/>
                </a:solidFill>
                <a:latin typeface="Microsoft YaHei"/>
              </a:defRPr>
            </a:pPr>
            <a:r>
              <a:t>报告文本 → 模型候选 → 证据校验 → 人工批准</a:t>
            </a:r>
          </a:p>
          <a:p>
            <a:pPr>
              <a:spcAft>
                <a:spcPts val="1200"/>
              </a:spcAft>
              <a:defRPr sz="2400">
                <a:solidFill>
                  <a:srgbClr val="193B5C"/>
                </a:solidFill>
                <a:latin typeface="Microsoft YaHei"/>
              </a:defRPr>
            </a:pPr>
            <a:r>
              <a:t>CP-SAT + 路网 → 执行推进 → 事件重规划 → 决策追踪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>
                <a:solidFill>
                  <a:srgbClr val="7890A7"/>
                </a:solidFill>
                <a:latin typeface="Microsoft YaHei"/>
              </a:defRPr>
            </a:pPr>
            <a:r>
              <a:t>V2.3 · 康定案例背景 / 模拟决策研究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4786BE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4786BE"/>
                </a:solidFill>
                <a:latin typeface="Microsoft YaHei"/>
              </a:defRPr>
            </a:pPr>
            <a:r>
              <a:t>KANGDING / DYNAMIC EMERGENCY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193B5C"/>
                </a:solidFill>
                <a:latin typeface="Microsoft YaHei"/>
              </a:defRPr>
            </a:pPr>
            <a:r>
              <a:t>态势总控台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93B5C"/>
                </a:solidFill>
                <a:latin typeface="Microsoft YaHei"/>
              </a:defRPr>
            </a:pPr>
            <a:r>
              <a:t>默认本地矢量底图，图层可切换，断网可交互</a:t>
            </a:r>
          </a:p>
          <a:p>
            <a:pPr>
              <a:spcAft>
                <a:spcPts val="1200"/>
              </a:spcAft>
              <a:defRPr sz="1500">
                <a:solidFill>
                  <a:srgbClr val="193B5C"/>
                </a:solidFill>
                <a:latin typeface="Microsoft YaHei"/>
              </a:defRPr>
            </a:pPr>
            <a:r>
              <a:t>OSM背景为2026快照；任务与风险为模拟图层</a:t>
            </a:r>
          </a:p>
        </p:txBody>
      </p:sp>
      <p:pic>
        <p:nvPicPr>
          <p:cNvPr id="5" name="Picture 4" descr="overview-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20" y="2606040"/>
            <a:ext cx="5925312" cy="3703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>
                <a:solidFill>
                  <a:srgbClr val="7890A7"/>
                </a:solidFill>
                <a:latin typeface="Microsoft YaHei"/>
              </a:defRPr>
            </a:pPr>
            <a:r>
              <a:t>V2.3 · 康定案例背景 / 模拟决策研究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4786BE"/>
                </a:solidFill>
                <a:latin typeface="Microsoft YaHe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4786BE"/>
                </a:solidFill>
                <a:latin typeface="Microsoft YaHei"/>
              </a:defRPr>
            </a:pPr>
            <a:r>
              <a:t>KANGDING / DYNAMIC EMERGENCY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193B5C"/>
                </a:solidFill>
                <a:latin typeface="Microsoft YaHei"/>
              </a:defRPr>
            </a:pPr>
            <a:r>
              <a:t>多事件审核与信息修正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93B5C"/>
                </a:solidFill>
                <a:latin typeface="Microsoft YaHei"/>
              </a:defRPr>
            </a:pPr>
            <a:r>
              <a:t>模型提出候选；人工核对原文、字段与条款</a:t>
            </a:r>
          </a:p>
          <a:p>
            <a:pPr>
              <a:spcAft>
                <a:spcPts val="1200"/>
              </a:spcAft>
              <a:defRPr sz="1500">
                <a:solidFill>
                  <a:srgbClr val="193B5C"/>
                </a:solidFill>
                <a:latin typeface="Microsoft YaHei"/>
              </a:defRPr>
            </a:pPr>
            <a:r>
              <a:t>同一批次统一重规划；报告版本为8 → 13 → 15</a:t>
            </a:r>
          </a:p>
        </p:txBody>
      </p:sp>
      <p:pic>
        <p:nvPicPr>
          <p:cNvPr id="5" name="Picture 4" descr="strategy-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20" y="2606040"/>
            <a:ext cx="5925312" cy="3703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>
                <a:solidFill>
                  <a:srgbClr val="7890A7"/>
                </a:solidFill>
                <a:latin typeface="Microsoft YaHei"/>
              </a:defRPr>
            </a:pPr>
            <a:r>
              <a:t>V2.3 · 康定案例背景 / 模拟决策研究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4786BE"/>
                </a:solidFill>
                <a:latin typeface="Microsoft YaHe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4786BE"/>
                </a:solidFill>
                <a:latin typeface="Microsoft YaHei"/>
              </a:defRPr>
            </a:pPr>
            <a:r>
              <a:t>KANGDING / DYNAMIC EMERGENCY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193B5C"/>
                </a:solidFill>
                <a:latin typeface="Microsoft YaHei"/>
              </a:defRPr>
            </a:pPr>
            <a:r>
              <a:t>冻结自然语言挑战评测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93B5C"/>
                </a:solidFill>
                <a:latin typeface="Microsoft YaHei"/>
              </a:defRPr>
            </a:pPr>
            <a:r>
              <a:t>120条 / 12类；规则、原始DeepSeek、DeepSeek + grounding</a:t>
            </a:r>
          </a:p>
          <a:p>
            <a:pPr>
              <a:spcAft>
                <a:spcPts val="1200"/>
              </a:spcAft>
              <a:defRPr sz="1500">
                <a:solidFill>
                  <a:srgbClr val="193B5C"/>
                </a:solidFill>
                <a:latin typeface="Microsoft YaHei"/>
              </a:defRPr>
            </a:pPr>
            <a:r>
              <a:t>三方法共享输入，两模型方法共享一次响应</a:t>
            </a:r>
          </a:p>
          <a:p>
            <a:pPr>
              <a:spcAft>
                <a:spcPts val="1200"/>
              </a:spcAft>
              <a:defRPr sz="1500">
                <a:solidFill>
                  <a:srgbClr val="193B5C"/>
                </a:solidFill>
                <a:latin typeface="Microsoft YaHei"/>
              </a:defRPr>
            </a:pPr>
            <a:r>
              <a:t>开发辅助标注，尚无第三方独立复核</a:t>
            </a:r>
          </a:p>
        </p:txBody>
      </p:sp>
      <p:pic>
        <p:nvPicPr>
          <p:cNvPr id="5" name="Picture 4" descr="oo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241" y="2606040"/>
            <a:ext cx="8332469" cy="3703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>
                <a:solidFill>
                  <a:srgbClr val="7890A7"/>
                </a:solidFill>
                <a:latin typeface="Microsoft YaHei"/>
              </a:defRPr>
            </a:pPr>
            <a:r>
              <a:t>V2.3 · 康定案例背景 / 模拟决策研究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4786BE"/>
                </a:solidFill>
                <a:latin typeface="Microsoft YaHe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4786BE"/>
                </a:solidFill>
                <a:latin typeface="Microsoft YaHei"/>
              </a:defRPr>
            </a:pPr>
            <a:r>
              <a:t>KANGDING / DYNAMIC EMERGENCY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193B5C"/>
                </a:solidFill>
                <a:latin typeface="Microsoft YaHei"/>
              </a:defRPr>
            </a:pPr>
            <a:r>
              <a:t>模型与校验的实际取舍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193B5C"/>
                </a:solidFill>
                <a:latin typeface="Microsoft YaHei"/>
              </a:defRPr>
            </a:pPr>
            <a:r>
              <a:t>原始模型数值F1高于规则，实体F1较低，事件F1接近</a:t>
            </a:r>
          </a:p>
          <a:p>
            <a:pPr>
              <a:spcAft>
                <a:spcPts val="1200"/>
              </a:spcAft>
              <a:defRPr sz="2400">
                <a:solidFill>
                  <a:srgbClr val="193B5C"/>
                </a:solidFill>
                <a:latin typeface="Microsoft YaHei"/>
              </a:defRPr>
            </a:pPr>
            <a:r>
              <a:t>严格校验同时减少错误候选和部分正确覆盖</a:t>
            </a:r>
          </a:p>
          <a:p>
            <a:pPr>
              <a:spcAft>
                <a:spcPts val="1200"/>
              </a:spcAft>
              <a:defRPr sz="2400">
                <a:solidFill>
                  <a:srgbClr val="193B5C"/>
                </a:solidFill>
                <a:latin typeface="Microsoft YaHei"/>
              </a:defRPr>
            </a:pPr>
            <a:r>
              <a:t>证据子串不等于完整语义验证；否定、指代仍需人工审查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>
                <a:solidFill>
                  <a:srgbClr val="7890A7"/>
                </a:solidFill>
                <a:latin typeface="Microsoft YaHei"/>
              </a:defRPr>
            </a:pPr>
            <a:r>
              <a:t>V2.3 · 康定案例背景 / 模拟决策研究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4786BE"/>
                </a:solidFill>
                <a:latin typeface="Microsoft YaHe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4786BE"/>
                </a:solidFill>
                <a:latin typeface="Microsoft YaHei"/>
              </a:defRPr>
            </a:pPr>
            <a:r>
              <a:t>KANGDING / DYNAMIC EMERGENCY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193B5C"/>
                </a:solidFill>
                <a:latin typeface="Microsoft YaHei"/>
              </a:defRPr>
            </a:pPr>
            <a:r>
              <a:t>动态调度与协同执行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93B5C"/>
                </a:solidFill>
                <a:latin typeface="Microsoft YaHei"/>
              </a:defRPr>
            </a:pPr>
            <a:r>
              <a:t>能力匹配、道路可达、协同开始、占用与已执行动作锁定</a:t>
            </a:r>
          </a:p>
          <a:p>
            <a:pPr>
              <a:spcAft>
                <a:spcPts val="1200"/>
              </a:spcAft>
              <a:defRPr sz="1500">
                <a:solidFill>
                  <a:srgbClr val="193B5C"/>
                </a:solidFill>
                <a:latin typeface="Microsoft YaHei"/>
              </a:defRPr>
            </a:pPr>
            <a:r>
              <a:t>加权目标与词典序共用执行器；超时明确显示可行或降级</a:t>
            </a:r>
          </a:p>
        </p:txBody>
      </p:sp>
      <p:pic>
        <p:nvPicPr>
          <p:cNvPr id="5" name="Picture 4" descr="dispatch-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20" y="2606040"/>
            <a:ext cx="5925312" cy="3703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>
                <a:solidFill>
                  <a:srgbClr val="7890A7"/>
                </a:solidFill>
                <a:latin typeface="Microsoft YaHei"/>
              </a:defRPr>
            </a:pPr>
            <a:r>
              <a:t>V2.3 · 康定案例背景 / 模拟决策研究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4786BE"/>
                </a:solidFill>
                <a:latin typeface="Microsoft YaHe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4786BE"/>
                </a:solidFill>
                <a:latin typeface="Microsoft YaHei"/>
              </a:defRPr>
            </a:pPr>
            <a:r>
              <a:t>KANGDING / DYNAMIC EMERGENCY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193B5C"/>
                </a:solidFill>
                <a:latin typeface="Microsoft YaHei"/>
              </a:defRPr>
            </a:pPr>
            <a:r>
              <a:t>多目标取舍，保留负面结果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193B5C"/>
                </a:solidFill>
                <a:latin typeface="Microsoft YaHei"/>
              </a:defRPr>
            </a:pPr>
            <a:r>
              <a:t>异构事件：300组；β敏感性：140组；重复压力：180组</a:t>
            </a:r>
          </a:p>
          <a:p>
            <a:pPr>
              <a:spcAft>
                <a:spcPts val="1200"/>
              </a:spcAft>
              <a:defRPr sz="2400">
                <a:solidFill>
                  <a:srgbClr val="193B5C"/>
                </a:solidFill>
                <a:latin typeface="Microsoft YaHei"/>
              </a:defRPr>
            </a:pPr>
            <a:r>
              <a:t>词典序P1完成略高，但响应、缺口和撤回存在代价</a:t>
            </a:r>
          </a:p>
          <a:p>
            <a:pPr>
              <a:spcAft>
                <a:spcPts val="1200"/>
              </a:spcAft>
              <a:defRPr sz="2400">
                <a:solidFill>
                  <a:srgbClr val="193B5C"/>
                </a:solidFill>
                <a:latin typeface="Microsoft YaHei"/>
              </a:defRPr>
            </a:pPr>
            <a:r>
              <a:t>旧960组按种子配对bootstrap，不用单一均值宣称全面优势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>
                <a:solidFill>
                  <a:srgbClr val="7890A7"/>
                </a:solidFill>
                <a:latin typeface="Microsoft YaHei"/>
              </a:defRPr>
            </a:pPr>
            <a:r>
              <a:t>V2.3 · 康定案例背景 / 模拟决策研究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4786BE"/>
                </a:solidFill>
                <a:latin typeface="Microsoft YaHe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4786BE"/>
                </a:solidFill>
                <a:latin typeface="Microsoft YaHei"/>
              </a:defRPr>
            </a:pPr>
            <a:r>
              <a:t>KANGDING / DYNAMIC EMERGENCY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193B5C"/>
                </a:solidFill>
                <a:latin typeface="Microsoft YaHei"/>
              </a:defRPr>
            </a:pPr>
            <a:r>
              <a:t>启动预热与请求开销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193B5C"/>
                </a:solidFill>
                <a:latin typeface="Microsoft YaHei"/>
              </a:defRPr>
            </a:pPr>
            <a:r>
              <a:t>服务启动先训练；请求期不重新拟合</a:t>
            </a:r>
          </a:p>
          <a:p>
            <a:pPr>
              <a:spcAft>
                <a:spcPts val="1200"/>
              </a:spcAft>
              <a:defRPr sz="2400">
                <a:solidFill>
                  <a:srgbClr val="193B5C"/>
                </a:solidFill>
                <a:latin typeface="Microsoft YaHei"/>
              </a:defRPr>
            </a:pPr>
            <a:r>
              <a:t>模拟预热事件P95 849.1 ms；历史 212.2 ms</a:t>
            </a:r>
          </a:p>
          <a:p>
            <a:pPr>
              <a:spcAft>
                <a:spcPts val="1200"/>
              </a:spcAft>
              <a:defRPr sz="2400">
                <a:solidFill>
                  <a:srgbClr val="193B5C"/>
                </a:solidFill>
                <a:latin typeface="Microsoft YaHei"/>
              </a:defRPr>
            </a:pPr>
            <a:r>
              <a:t>各30次，含SQLite与状态返回，排除HTTP / LLM</a:t>
            </a:r>
          </a:p>
          <a:p>
            <a:pPr>
              <a:spcAft>
                <a:spcPts val="1200"/>
              </a:spcAft>
              <a:defRPr sz="2400">
                <a:solidFill>
                  <a:srgbClr val="193B5C"/>
                </a:solidFill>
                <a:latin typeface="Microsoft YaHei"/>
              </a:defRPr>
            </a:pPr>
            <a:r>
              <a:t>与旧内存压力实验计时边界不同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>
                <a:solidFill>
                  <a:srgbClr val="7890A7"/>
                </a:solidFill>
                <a:latin typeface="Microsoft YaHei"/>
              </a:defRPr>
            </a:pPr>
            <a:r>
              <a:t>V2.3 · 康定案例背景 / 模拟决策研究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4786BE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4786BE"/>
                </a:solidFill>
                <a:latin typeface="Microsoft YaHei"/>
              </a:defRPr>
            </a:pPr>
            <a:r>
              <a:t>KANGDING / DYNAMIC EMERGENCY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193B5C"/>
                </a:solidFill>
                <a:latin typeface="Microsoft YaHei"/>
              </a:defRPr>
            </a:pPr>
            <a:r>
              <a:t>精简前端与稳定性验收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193B5C"/>
                </a:solidFill>
                <a:latin typeface="Microsoft YaHei"/>
              </a:defRPr>
            </a:pPr>
            <a:r>
              <a:t>沿用原生JS、Leaflet、ECharts；没有新增前端运行依赖</a:t>
            </a:r>
          </a:p>
          <a:p>
            <a:pPr>
              <a:spcAft>
                <a:spcPts val="1200"/>
              </a:spcAft>
              <a:defRPr sz="2400">
                <a:solidFill>
                  <a:srgbClr val="193B5C"/>
                </a:solidFill>
                <a:latin typeface="Microsoft YaHei"/>
              </a:defRPr>
            </a:pPr>
            <a:r>
              <a:t>SVG图标、59KB本地道路、地图/图表切页释放</a:t>
            </a:r>
          </a:p>
          <a:p>
            <a:pPr>
              <a:spcAft>
                <a:spcPts val="1200"/>
              </a:spcAft>
              <a:defRPr sz="2400">
                <a:solidFill>
                  <a:srgbClr val="193B5C"/>
                </a:solidFill>
                <a:latin typeface="Microsoft YaHei"/>
              </a:defRPr>
            </a:pPr>
            <a:r>
              <a:t>六页 × 三宽度、九阶段、真实提取、词典序与重复切页</a:t>
            </a:r>
          </a:p>
          <a:p>
            <a:pPr>
              <a:spcAft>
                <a:spcPts val="1200"/>
              </a:spcAft>
              <a:defRPr sz="2400">
                <a:solidFill>
                  <a:srgbClr val="193B5C"/>
                </a:solidFill>
                <a:latin typeface="Microsoft YaHei"/>
              </a:defRPr>
            </a:pPr>
            <a:r>
              <a:t>完整73项测试，保留约束一致性与失败回退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>
                <a:solidFill>
                  <a:srgbClr val="7890A7"/>
                </a:solidFill>
                <a:latin typeface="Microsoft YaHei"/>
              </a:defRPr>
            </a:pPr>
            <a:r>
              <a:t>V2.3 · 康定案例背景 / 模拟决策研究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4786BE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4786BE"/>
                </a:solidFill>
                <a:latin typeface="Microsoft YaHei"/>
              </a:defRPr>
            </a:pPr>
            <a:r>
              <a:t>KANGDING / DYNAMIC EMERGENCY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193B5C"/>
                </a:solidFill>
                <a:latin typeface="Microsoft YaHei"/>
              </a:defRPr>
            </a:pPr>
            <a:r>
              <a:t>研究结论与边界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193B5C"/>
                </a:solidFill>
                <a:latin typeface="Microsoft YaHei"/>
              </a:defRPr>
            </a:pPr>
            <a:r>
              <a:t>可复现地解释动态信息如何改变资源约束与调度方案</a:t>
            </a:r>
          </a:p>
          <a:p>
            <a:pPr>
              <a:spcAft>
                <a:spcPts val="1200"/>
              </a:spcAft>
              <a:defRPr sz="2400">
                <a:solidFill>
                  <a:srgbClr val="193B5C"/>
                </a:solidFill>
                <a:latin typeface="Microsoft YaHei"/>
              </a:defRPr>
            </a:pPr>
            <a:r>
              <a:t>没有证明LLM全面优于规则，或证明真实救援效果</a:t>
            </a:r>
          </a:p>
          <a:p>
            <a:pPr>
              <a:spcAft>
                <a:spcPts val="1200"/>
              </a:spcAft>
              <a:defRPr sz="2400">
                <a:solidFill>
                  <a:srgbClr val="193B5C"/>
                </a:solidFill>
                <a:latin typeface="Microsoft YaHei"/>
              </a:defRPr>
            </a:pPr>
            <a:r>
              <a:t>后续：第三方独立标注、地形易发性、未来需求资源保留</a:t>
            </a:r>
          </a:p>
          <a:p>
            <a:pPr>
              <a:spcAft>
                <a:spcPts val="1200"/>
              </a:spcAft>
              <a:defRPr sz="2400">
                <a:solidFill>
                  <a:srgbClr val="193B5C"/>
                </a:solidFill>
                <a:latin typeface="Microsoft YaHei"/>
              </a:defRPr>
            </a:pPr>
            <a:r>
              <a:t>当前冻结功能，统一README、PPT与五分钟演示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>
                <a:solidFill>
                  <a:srgbClr val="7890A7"/>
                </a:solidFill>
                <a:latin typeface="Microsoft YaHei"/>
              </a:defRPr>
            </a:pPr>
            <a:r>
              <a:t>V2.3 · 康定案例背景 / 模拟决策研究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4786BE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